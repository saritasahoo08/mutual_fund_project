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6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2233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A2233"/>
                </a:solidFill>
                <a:latin typeface="Arial"/>
              </a:rPr>
              <a:t>Monthly SIP Inflow Trend (Rs Crore)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SIP Inflow (Cr)</c:v>
                </c:pt>
              </c:strCache>
            </c:strRef>
          </c:tx>
          <c:spPr>
            <a:solidFill>
              <a:srgbClr val="065A82"/>
            </a:solidFill>
            <a:ln w="38100" cap="flat">
              <a:solidFill>
                <a:srgbClr val="065A8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65A82"/>
              </a:solidFill>
              <a:ln w="9525" cap="flat">
                <a:solidFill>
                  <a:srgbClr val="065A8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11517</c:v>
                </c:pt>
                <c:pt idx="1">
                  <c:v>18500</c:v>
                </c:pt>
                <c:pt idx="2">
                  <c:v>27000</c:v>
                </c:pt>
                <c:pt idx="3">
                  <c:v>31002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4F7F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2233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A2233"/>
                </a:solidFill>
                <a:latin typeface="Arial"/>
              </a:rPr>
              <a:t>Total Investor Folios (Crore)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Folios (Cr)</c:v>
                </c:pt>
              </c:strCache>
            </c:strRef>
          </c:tx>
          <c:spPr>
            <a:solidFill>
              <a:srgbClr val="1C7293"/>
            </a:solidFill>
            <a:ln w="38100" cap="flat">
              <a:solidFill>
                <a:srgbClr val="1C729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C7293"/>
              </a:solidFill>
              <a:ln w="9525" cap="flat">
                <a:solidFill>
                  <a:srgbClr val="1C729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13.26</c:v>
                </c:pt>
                <c:pt idx="1">
                  <c:v>16</c:v>
                </c:pt>
                <c:pt idx="2">
                  <c:v>20.5</c:v>
                </c:pt>
                <c:pt idx="3">
                  <c:v>26.12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4F7FA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2233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A2233"/>
                </a:solidFill>
                <a:latin typeface="Arial"/>
              </a:rPr>
              <a:t>Transaction Type Split (%)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Type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65A82"/>
              </a:solidFill>
              <a:effectLst/>
            </c:spPr>
          </c:dPt>
          <c:dPt>
            <c:idx val="1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bubble3D val="0"/>
            <c:spPr>
              <a:solidFill>
                <a:srgbClr val="8FB8D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Lumpsum</c:v>
                </c:pt>
                <c:pt idx="1">
                  <c:v>Redemption</c:v>
                </c:pt>
                <c:pt idx="2">
                  <c:v>SIP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58.49</c:v>
                </c:pt>
                <c:pt idx="1">
                  <c:v>35.34</c:v>
                </c:pt>
                <c:pt idx="2">
                  <c:v>6.17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2233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A2233"/>
                </a:solidFill>
                <a:latin typeface="Arial"/>
              </a:rPr>
              <a:t>Top 5 States by Investment Amount (Rs)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Amount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Punjab</c:v>
                  </c:pt>
                  <c:pt idx="1">
                    <c:v>Tamil Nadu</c:v>
                  </c:pt>
                  <c:pt idx="2">
                    <c:v>MP</c:v>
                  </c:pt>
                  <c:pt idx="3">
                    <c:v>Rajasthan</c:v>
                  </c:pt>
                  <c:pt idx="4">
                    <c:v>Gujarat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315780459</c:v>
                </c:pt>
                <c:pt idx="1">
                  <c:v>315177237</c:v>
                </c:pt>
                <c:pt idx="2">
                  <c:v>308312493</c:v>
                </c:pt>
                <c:pt idx="3">
                  <c:v>298645822</c:v>
                </c:pt>
                <c:pt idx="4">
                  <c:v>298358940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4F7FA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2233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A2233"/>
                </a:solidFill>
                <a:latin typeface="Arial"/>
              </a:rPr>
              <a:t>Investment Amount by Age Group (Rs)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Amount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26-35</c:v>
                  </c:pt>
                  <c:pt idx="1">
                    <c:v>36-45</c:v>
                  </c:pt>
                  <c:pt idx="2">
                    <c:v>18-25</c:v>
                  </c:pt>
                  <c:pt idx="3">
                    <c:v>46-55</c:v>
                  </c:pt>
                  <c:pt idx="4">
                    <c:v>56+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1320000000</c:v>
                </c:pt>
                <c:pt idx="1">
                  <c:v>980000000</c:v>
                </c:pt>
                <c:pt idx="2">
                  <c:v>700000000</c:v>
                </c:pt>
                <c:pt idx="3">
                  <c:v>480000000</c:v>
                </c:pt>
                <c:pt idx="4">
                  <c:v>290000000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4F7FA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2233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A2233"/>
                </a:solidFill>
                <a:latin typeface="Arial"/>
              </a:rPr>
              <a:t>Top 5 Funds by 1-Year Return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1yr Return %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22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ABSL Small Cap</c:v>
                  </c:pt>
                  <c:pt idx="1">
                    <c:v>SBI Small Cap</c:v>
                  </c:pt>
                  <c:pt idx="2">
                    <c:v>Axis Small Cap</c:v>
                  </c:pt>
                  <c:pt idx="3">
                    <c:v>Nippon Small Cap</c:v>
                  </c:pt>
                  <c:pt idx="4">
                    <c:v>DSP Small Cap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24.93</c:v>
                </c:pt>
                <c:pt idx="1">
                  <c:v>24.56</c:v>
                </c:pt>
                <c:pt idx="2">
                  <c:v>21.97</c:v>
                </c:pt>
                <c:pt idx="3">
                  <c:v>21.3</c:v>
                </c:pt>
                <c:pt idx="4">
                  <c:v>20.2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22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4F7F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audience. Introduce this as an end-to-end capstone project covering the full lifecycle of mutual fund data analytics, from raw data to a working dashboard and risk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business problem: fragmented data, no unified way to compare funds. State the objective clearly and preview the outcome - a working pipeline plus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breadth of data: from static fund attributes to nearly 33,000 individual transactions and over 8,000 benchmark index data points. Mention live NAV data was also pulled from the mfapi.in API.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pipeline visually: ingestion, cleaning, the SQLite star-schema database, the analytical notebooks, and finally the Power BI dashboard layer.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the strongest growth story in the dataset: SIP discipline and investor base growth, both climbing consistently even through the 2024 correction.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investor behaviour: Lumpsum dominates by value even though SIP is more frequent by count. Punjab, Tamil Nadu and Madhya Pradesh lead geographically; the 26-35 age group leads demographically.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scorecard methodology briefly, then point out that the top fund balances return and risk rather than simply having the highest headline return.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that Small Cap funds top the return charts, then pivot to risk: VaR, drawdown, rolling Sharpe and HHI all help explain why high returns came with higher risk for these same funds.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first dashboard page: KPI cards for total AUM, SIP inflows and folios, plus the AUM trend and fund-house ranking bar chart with SBI leading.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risk-return scatter plot and the full sortable fund scorecard table, filterable by fund house, category and plan.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 the six most important takeaways from the entire project in one slide - this is the slide audience members will remember.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thanks and invite questions. Mention the GitHub repository link for anyone who wants to explore the code, notebooks or dashboard file directly.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chart" Target="/ppt/charts/chart5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2286000"/>
            <a:ext cx="5486400" cy="54864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114800"/>
            <a:ext cx="4572000" cy="457200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874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CAPSTONE PROJECT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Bluestock Mutual Fund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379476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ETL, performance analytics and risk insights project across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9D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mutual fund schemes and 32,778 investor transactions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6126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Sarita Sahoo   |   June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OBJECTIVE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project matters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444240" cy="4297680"/>
          </a:xfrm>
          <a:prstGeom prst="roundRect">
            <a:avLst>
              <a:gd name="adj" fmla="val 2124"/>
            </a:avLst>
          </a:prstGeom>
          <a:solidFill>
            <a:srgbClr val="F4F7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116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2697480"/>
            <a:ext cx="289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3200400"/>
            <a:ext cx="2895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 data is scattered across NAV files, transaction logs and performance reports, making it hard to compare funds or track investor behaviour on a like-for-like basis.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04360" y="1737360"/>
            <a:ext cx="3444240" cy="4297680"/>
          </a:xfrm>
          <a:prstGeom prst="roundRect">
            <a:avLst>
              <a:gd name="adj" fmla="val 2124"/>
            </a:avLst>
          </a:prstGeom>
          <a:solidFill>
            <a:srgbClr val="F4F7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78680" y="20116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467868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78680" y="2697480"/>
            <a:ext cx="289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Objective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78680" y="3200400"/>
            <a:ext cx="2895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structured pipeline that ingests, cleans and stores this data, then layers performance analytics, risk metrics and an interactive dashboard on top.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68640" y="1737360"/>
            <a:ext cx="3444240" cy="4297680"/>
          </a:xfrm>
          <a:prstGeom prst="roundRect">
            <a:avLst>
              <a:gd name="adj" fmla="val 2124"/>
            </a:avLst>
          </a:prstGeom>
          <a:solidFill>
            <a:srgbClr val="F4F7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42960" y="20116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844296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442960" y="2697480"/>
            <a:ext cx="289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Outcome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442960" y="3200400"/>
            <a:ext cx="2895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reusable analytics framework: a SQLite database, a Power BI dashboard, a fund scorecard, and a simple risk-based fund recommender.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 datasets, one unified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603504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91640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Master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206240" y="1691640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schemes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92240" y="1691640"/>
            <a:ext cx="4846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Category, expense ratio, risk grade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404872"/>
            <a:ext cx="10881360" cy="6035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404872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History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206240" y="2404872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46,000 records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92240" y="2404872"/>
            <a:ext cx="4846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prices, Jan 2022 - May 2026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118104"/>
            <a:ext cx="10881360" cy="603504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118104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Transactions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206240" y="3118104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32,778 records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92240" y="3118104"/>
            <a:ext cx="4846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SIP, Lumpsum, Redemption activity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831336"/>
            <a:ext cx="10881360" cy="6035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3831336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 Performance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206240" y="3831336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records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92240" y="3831336"/>
            <a:ext cx="4846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Returns, Sharpe, Alpha, Beta, drawdown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4544568"/>
            <a:ext cx="10881360" cy="603504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4544568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Holdings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206240" y="4544568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322 records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92240" y="4544568"/>
            <a:ext cx="4846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and sector-level weights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5257800"/>
            <a:ext cx="10881360" cy="6035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5257800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Indices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206240" y="5257800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8,050 records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92240" y="5257800"/>
            <a:ext cx="4846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Nifty 50, Nifty 100 and more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CSVs to insights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45236" y="2743200"/>
            <a:ext cx="1737360" cy="1188720"/>
          </a:xfrm>
          <a:prstGeom prst="roundRect">
            <a:avLst>
              <a:gd name="adj" fmla="val 7692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5236" y="274320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CSVs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Live API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55748" y="3319272"/>
            <a:ext cx="356616" cy="36576"/>
          </a:xfrm>
          <a:prstGeom prst="rect">
            <a:avLst/>
          </a:prstGeom>
          <a:solidFill>
            <a:srgbClr val="8FB8D6"/>
          </a:solidFill>
          <a:ln/>
        </p:spPr>
      </p:sp>
      <p:sp>
        <p:nvSpPr>
          <p:cNvPr id="7" name="Shape 5"/>
          <p:cNvSpPr/>
          <p:nvPr/>
        </p:nvSpPr>
        <p:spPr>
          <a:xfrm>
            <a:off x="2985516" y="2743200"/>
            <a:ext cx="1737360" cy="1188720"/>
          </a:xfrm>
          <a:prstGeom prst="roundRect">
            <a:avLst>
              <a:gd name="adj" fmla="val 7692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985516" y="274320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96028" y="3319272"/>
            <a:ext cx="356616" cy="36576"/>
          </a:xfrm>
          <a:prstGeom prst="rect">
            <a:avLst/>
          </a:prstGeom>
          <a:solidFill>
            <a:srgbClr val="8FB8D6"/>
          </a:solidFill>
          <a:ln/>
        </p:spPr>
      </p:sp>
      <p:sp>
        <p:nvSpPr>
          <p:cNvPr id="10" name="Shape 8"/>
          <p:cNvSpPr/>
          <p:nvPr/>
        </p:nvSpPr>
        <p:spPr>
          <a:xfrm>
            <a:off x="5225796" y="2743200"/>
            <a:ext cx="1737360" cy="1188720"/>
          </a:xfrm>
          <a:prstGeom prst="roundRect">
            <a:avLst>
              <a:gd name="adj" fmla="val 7692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225796" y="274320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036308" y="3319272"/>
            <a:ext cx="356616" cy="36576"/>
          </a:xfrm>
          <a:prstGeom prst="rect">
            <a:avLst/>
          </a:prstGeom>
          <a:solidFill>
            <a:srgbClr val="8FB8D6"/>
          </a:solidFill>
          <a:ln/>
        </p:spPr>
      </p:sp>
      <p:sp>
        <p:nvSpPr>
          <p:cNvPr id="13" name="Shape 11"/>
          <p:cNvSpPr/>
          <p:nvPr/>
        </p:nvSpPr>
        <p:spPr>
          <a:xfrm>
            <a:off x="7466076" y="2743200"/>
            <a:ext cx="1737360" cy="1188720"/>
          </a:xfrm>
          <a:prstGeom prst="roundRect">
            <a:avLst>
              <a:gd name="adj" fmla="val 7692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466076" y="274320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276588" y="3319272"/>
            <a:ext cx="356616" cy="36576"/>
          </a:xfrm>
          <a:prstGeom prst="rect">
            <a:avLst/>
          </a:prstGeom>
          <a:solidFill>
            <a:srgbClr val="8FB8D6"/>
          </a:solidFill>
          <a:ln/>
        </p:spPr>
      </p:sp>
      <p:sp>
        <p:nvSpPr>
          <p:cNvPr id="16" name="Shape 14"/>
          <p:cNvSpPr/>
          <p:nvPr/>
        </p:nvSpPr>
        <p:spPr>
          <a:xfrm>
            <a:off x="9706356" y="2743200"/>
            <a:ext cx="1737360" cy="1188720"/>
          </a:xfrm>
          <a:prstGeom prst="roundRect">
            <a:avLst>
              <a:gd name="adj" fmla="val 7692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706356" y="274320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44348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9D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schema: dim_fund linked to fact_nav, fact_transactions, fact_performance and fact_aum via amfi_code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HIGHLIGHTS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SIP inflows and folios are both climbing fast</a:t>
            </a:r>
            <a:endParaRPr lang="en-US" sz="27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45920"/>
          <a:ext cx="521208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126480" y="1645920"/>
          <a:ext cx="521208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640080" y="4617720"/>
            <a:ext cx="10698480" cy="1417320"/>
          </a:xfrm>
          <a:prstGeom prst="roundRect">
            <a:avLst>
              <a:gd name="adj" fmla="val 5161"/>
            </a:avLst>
          </a:prstGeom>
          <a:solidFill>
            <a:srgbClr val="F4F7FA"/>
          </a:solidFill>
          <a:ln/>
        </p:spPr>
      </p:sp>
      <p:sp>
        <p:nvSpPr>
          <p:cNvPr id="7" name="Text 3"/>
          <p:cNvSpPr/>
          <p:nvPr/>
        </p:nvSpPr>
        <p:spPr>
          <a:xfrm>
            <a:off x="914400" y="4800600"/>
            <a:ext cx="10149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inflows grew 169% </a:t>
            </a:r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Rs 11,517 Cr (Jan 2022) to an all-time high of Rs 31,002 Cr (Dec 2025), while </a:t>
            </a:r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folios nearly doubled </a:t>
            </a:r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13.26 Cr to 26.12 Cr over the same period.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HIGHLIGHTS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invests, and from where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91640"/>
          <a:ext cx="42062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5029200" y="1691640"/>
          <a:ext cx="630936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2" descr=""/>
          <p:cNvGraphicFramePr/>
          <p:nvPr/>
        </p:nvGraphicFramePr>
        <p:xfrm>
          <a:off x="5029200" y="3886200"/>
          <a:ext cx="630936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Ranking funds beyond raw returns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Fund Scorecard (0-100): 30% 3yr return + 25% Sharpe + 20% Alpha + 15% expense ratio + 10% drawdown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20240"/>
          <a:ext cx="10881360" cy="2377440"/>
        </p:xfrm>
        <a:graphic>
          <a:graphicData uri="http://schemas.openxmlformats.org/drawingml/2006/table">
            <a:tbl>
              <a:tblPr/>
              <a:tblGrid>
                <a:gridCol w="4754880"/>
                <a:gridCol w="1463040"/>
                <a:gridCol w="1645920"/>
                <a:gridCol w="1463040"/>
                <a:gridCol w="1554480"/>
              </a:tblGrid>
              <a:tr h="396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3yr CAGR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ICICI Pru Midcap Fund - Regular - Growth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79.75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31.78%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HDFC Mid-Cap Opportunities - Regular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32.44%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ICICI Pru Bluechip Fund - Direct - Growth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77.81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32.49%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Axis Midcap Fund - Regular - Growth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35.11%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DSP Midcap Fund - Regular - Growth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26.87%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4617720"/>
            <a:ext cx="10698480" cy="1417320"/>
          </a:xfrm>
          <a:prstGeom prst="roundRect">
            <a:avLst>
              <a:gd name="adj" fmla="val 5161"/>
            </a:avLst>
          </a:prstGeom>
          <a:solidFill>
            <a:srgbClr val="F4F7FA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4800600"/>
            <a:ext cx="10149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ICICI Prudential Midcap Fund </a:t>
            </a:r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highest overall, balancing strong 3-year returns with a healthy Sharpe ratio of 1.18 - rewarding consistent, risk-adjusted performance over chasing the single highest return.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tells the other half of the story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91640"/>
          <a:ext cx="521208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126480" y="16916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concepts used in this analysis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126480" y="2194560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0" y="207568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at Risk (95%)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0" y="237744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loss expected on a normal bad day, for every one of the 40 schemes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26480" y="3063240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0" y="294436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Drawdown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400800" y="324612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peak-to-trough decline; deepest for small/mid cap funds during the 2024 correction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126480" y="3931920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0" y="381304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90-day Sharpe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400800" y="41148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 for the top 5 funds, showing risk-adjusted performance dip and recovery across the cycle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126480" y="4800600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3"/>
          <p:cNvSpPr/>
          <p:nvPr/>
        </p:nvSpPr>
        <p:spPr>
          <a:xfrm>
            <a:off x="6400800" y="468172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HHI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400800" y="498348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equity funds with concentrated sector bets versus broadly diversified portfolios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Page 1: Industry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11091672" cy="5166360"/>
          </a:xfrm>
          <a:prstGeom prst="roundRect">
            <a:avLst>
              <a:gd name="adj" fmla="val 708"/>
            </a:avLst>
          </a:prstGeom>
          <a:solidFill>
            <a:srgbClr val="F4F7FA"/>
          </a:solidFill>
          <a:ln w="12700">
            <a:solidFill>
              <a:srgbClr val="D7DEE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home/claude/pptx/page1_industry_fix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522476" y="1554480"/>
            <a:ext cx="9144000" cy="471830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Page 2: Fund Performance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11091672" cy="5166360"/>
          </a:xfrm>
          <a:prstGeom prst="roundRect">
            <a:avLst>
              <a:gd name="adj" fmla="val 708"/>
            </a:avLst>
          </a:prstGeom>
          <a:solidFill>
            <a:srgbClr val="F4F7FA"/>
          </a:solidFill>
          <a:ln w="12700">
            <a:solidFill>
              <a:srgbClr val="D7DEE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home/claude/pptx/page2_performance_fix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522476" y="1554480"/>
            <a:ext cx="9144000" cy="471830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data tells us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166360" cy="1188720"/>
          </a:xfrm>
          <a:prstGeom prst="roundRect">
            <a:avLst>
              <a:gd name="adj" fmla="val 6154"/>
            </a:avLst>
          </a:prstGeom>
          <a:solidFill>
            <a:srgbClr val="065A82">
              <a:alpha val="7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92024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FB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45920" y="192024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inflows grew 169% (2022-2025), reaching an all-time high of Rs 31,002 Cr in Dec 2025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55080" y="1783080"/>
            <a:ext cx="5166360" cy="1188720"/>
          </a:xfrm>
          <a:prstGeom prst="roundRect">
            <a:avLst>
              <a:gd name="adj" fmla="val 6154"/>
            </a:avLst>
          </a:prstGeom>
          <a:solidFill>
            <a:srgbClr val="065A82">
              <a:alpha val="7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583680" y="192024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FB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360920" y="192024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investor folios nearly doubled, from 13.26 Cr to 26.12 Cr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200400"/>
            <a:ext cx="5166360" cy="1188720"/>
          </a:xfrm>
          <a:prstGeom prst="roundRect">
            <a:avLst>
              <a:gd name="adj" fmla="val 6154"/>
            </a:avLst>
          </a:prstGeom>
          <a:solidFill>
            <a:srgbClr val="065A82">
              <a:alpha val="7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33756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FB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645920" y="333756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Cap equity funds led on 1-year returns, but carried higher VaR and drawdown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55080" y="3200400"/>
            <a:ext cx="5166360" cy="1188720"/>
          </a:xfrm>
          <a:prstGeom prst="roundRect">
            <a:avLst>
              <a:gd name="adj" fmla="val 6154"/>
            </a:avLst>
          </a:prstGeom>
          <a:solidFill>
            <a:srgbClr val="065A82">
              <a:alpha val="7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0" y="333756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FB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360920" y="333756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 Mutual Fund holds the largest average AUM among all fund houses studied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617720"/>
            <a:ext cx="5166360" cy="1188720"/>
          </a:xfrm>
          <a:prstGeom prst="roundRect">
            <a:avLst>
              <a:gd name="adj" fmla="val 6154"/>
            </a:avLst>
          </a:prstGeom>
          <a:solidFill>
            <a:srgbClr val="065A82">
              <a:alpha val="7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75488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FB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645920" y="475488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26-35 age group contributes the highest SIP investment value of any age band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55080" y="4617720"/>
            <a:ext cx="5166360" cy="1188720"/>
          </a:xfrm>
          <a:prstGeom prst="roundRect">
            <a:avLst>
              <a:gd name="adj" fmla="val 6154"/>
            </a:avLst>
          </a:prstGeom>
          <a:solidFill>
            <a:srgbClr val="065A82">
              <a:alpha val="7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475488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FB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360920" y="475488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 and short-duration debt funds offer the most stable, low-risk return profiles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743200"/>
            <a:ext cx="6400800" cy="64008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3657600"/>
            <a:ext cx="5486400" cy="548640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37744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40080" y="34290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D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discussion welcome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206240"/>
            <a:ext cx="2011680" cy="18288"/>
          </a:xfrm>
          <a:prstGeom prst="rect">
            <a:avLst/>
          </a:prstGeom>
          <a:solidFill>
            <a:srgbClr val="8FB8D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44348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Sarita Sahoo
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github.com/saritasahoo08/mutual_fund_project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Bluestock Mutual Fund Capstone Presentation</dc:title>
  <dc:subject>PptxGenJS Presentation</dc:subject>
  <dc:creator>Sarita Sahoo</dc:creator>
  <cp:lastModifiedBy>Sarita Sahoo</cp:lastModifiedBy>
  <cp:revision>1</cp:revision>
  <dcterms:created xsi:type="dcterms:W3CDTF">2026-06-17T07:22:12Z</dcterms:created>
  <dcterms:modified xsi:type="dcterms:W3CDTF">2026-06-17T07:22:12Z</dcterms:modified>
</cp:coreProperties>
</file>